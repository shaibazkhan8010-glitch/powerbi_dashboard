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DM Sans Medium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8F5"/>
    <a:srgbClr val="F4F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269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2D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8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2.svg"/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5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6.svg"/><Relationship Id="rId13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-7-1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4.sv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-7-8.svg"/><Relationship Id="rId4" Type="http://schemas.openxmlformats.org/officeDocument/2006/relationships/image" Target="../media/image-7-2.sv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-8-6.svg"/><Relationship Id="rId12" Type="http://schemas.openxmlformats.org/officeDocument/2006/relationships/image" Target="../media/image-8-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18.png"/><Relationship Id="rId5" Type="http://schemas.openxmlformats.org/officeDocument/2006/relationships/image" Target="../media/image-8-2.svg"/><Relationship Id="rId10" Type="http://schemas.openxmlformats.org/officeDocument/2006/relationships/image" Target="../media/image-8-8.svg"/><Relationship Id="rId4" Type="http://schemas.openxmlformats.org/officeDocument/2006/relationships/image" Target="../media/image-8-2.svg"/><Relationship Id="rId9" Type="http://schemas.openxmlformats.org/officeDocument/2006/relationships/image" Target="../media/image-8-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7.svg"/><Relationship Id="rId3" Type="http://schemas.openxmlformats.org/officeDocument/2006/relationships/image" Target="../media/image24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10-3.svg"/><Relationship Id="rId5" Type="http://schemas.openxmlformats.org/officeDocument/2006/relationships/image" Target="../media/image-10-3.sv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363986"/>
            <a:ext cx="1694614" cy="287139"/>
          </a:xfrm>
          <a:prstGeom prst="roundRect">
            <a:avLst>
              <a:gd name="adj" fmla="val 7899"/>
            </a:avLst>
          </a:prstGeom>
          <a:solidFill>
            <a:srgbClr val="E3E3E8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420640"/>
            <a:ext cx="20773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PROJECT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022428" y="2363986"/>
            <a:ext cx="208959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8282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5832" y="2420640"/>
            <a:ext cx="24723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82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233360" y="2726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Bengaluru Ola Executive Dashboard</a:t>
            </a:r>
            <a:endParaRPr lang="en-US" sz="3700" dirty="0"/>
          </a:p>
        </p:txBody>
      </p:sp>
      <p:sp>
        <p:nvSpPr>
          <p:cNvPr id="8" name="Text 5"/>
          <p:cNvSpPr/>
          <p:nvPr/>
        </p:nvSpPr>
        <p:spPr>
          <a:xfrm>
            <a:off x="5233360" y="419149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Business Intelligence Project — Prepared by Shahabaz Khan</a:t>
            </a:r>
            <a:endParaRPr lang="en-US" sz="1450" dirty="0"/>
          </a:p>
        </p:txBody>
      </p:sp>
      <p:sp>
        <p:nvSpPr>
          <p:cNvPr id="9" name="Rectangle 8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759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Overview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96341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Turning Ride Data into Executive Decisions</a:t>
            </a:r>
            <a:endParaRPr lang="en-US" sz="3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780480"/>
            <a:ext cx="5349047" cy="21461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28249" y="1915120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66356" y="2498626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Problem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66356" y="2881412"/>
            <a:ext cx="49392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Ola's Bengaluru operations lacked a centralized view of booking performance, payment trends, and customer satisfaction.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81074" y="1780480"/>
            <a:ext cx="5349146" cy="21461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47948" y="1915120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385956" y="2498626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Project Objective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85956" y="2881412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interactive Power BI dashboard to monitor KPIs and surface actionable insights for stakeholders.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4097139"/>
            <a:ext cx="5349047" cy="21461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28249" y="4231779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66356" y="4815284"/>
            <a:ext cx="49392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Why This Dashboard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66356" y="5198070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replace manual reporting with a real-time, self-service BI solution for faster, data-driven decisions.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181074" y="4097139"/>
            <a:ext cx="5349146" cy="21461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7948" y="4231779"/>
            <a:ext cx="215399" cy="269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385956" y="4815284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Expected Impact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85956" y="5198070"/>
            <a:ext cx="4939383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operational efficiency, reduced incomplete rides, and better alignment of vehicle supply with demand.</a:t>
            </a:r>
            <a:endParaRPr lang="en-US" sz="1400" dirty="0"/>
          </a:p>
        </p:txBody>
      </p:sp>
      <p:sp>
        <p:nvSpPr>
          <p:cNvPr id="21" name="Rectangle 20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081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Dataset Information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95567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Foundation of the Analysis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661475" y="1662509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dashboard is built on a comprehensive Ola ride-booking dataset capturing every key dimension of each transaction.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2053828"/>
            <a:ext cx="10868745" cy="4154091"/>
          </a:xfrm>
          <a:prstGeom prst="roundRect">
            <a:avLst>
              <a:gd name="adj" fmla="val 58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825" y="2060178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8555" y="2148384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Attribute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88504" y="2148384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825" y="2474317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28555" y="2562523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ID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88504" y="2562523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ride booking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825" y="2888456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8555" y="2976662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ID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88504" y="2976662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identifier for each customer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67825" y="3302595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8555" y="3390801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Status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88504" y="3390801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Outcome of the ride — completed, cancelled, or incomplete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825" y="3716734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28555" y="3804940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Vehicle Type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88504" y="3804940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 such as Prime Sedan, Prime Plus, Mini, Auto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67825" y="4130873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8555" y="4219079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 Method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88504" y="4219079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wallet, UPI, cash, or card transaction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825" y="4545013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28555" y="4633218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Pickup Location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088504" y="4633218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 zone within the Bengaluru metropolitan area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7825" y="4959152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28555" y="5047357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 Location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088504" y="5047357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 zone within the Bengaluru metropolitan area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7825" y="5373291"/>
            <a:ext cx="10856046" cy="4141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8555" y="5461496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Rating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88504" y="5461496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Post-ride satisfaction score on a 1–5 scale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7825" y="5787430"/>
            <a:ext cx="10856046" cy="4141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828555" y="5875635"/>
            <a:ext cx="354192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Booking Value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088504" y="5875635"/>
            <a:ext cx="78843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Fare amount in INR for each completed ride</a:t>
            </a:r>
            <a:endParaRPr lang="en-US" sz="1250" dirty="0"/>
          </a:p>
        </p:txBody>
      </p:sp>
      <p:sp>
        <p:nvSpPr>
          <p:cNvPr id="36" name="Rectangle 35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8395"/>
            <a:ext cx="1086874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Cleaning &amp; Preparation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661475" y="95398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From Raw Data to Analysis-Ready Model</a:t>
            </a:r>
            <a:endParaRPr lang="en-US" sz="3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1660823"/>
            <a:ext cx="9238424" cy="41573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868252" y="1723561"/>
            <a:ext cx="1616712" cy="499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Remove Duplicates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2868252" y="2294310"/>
            <a:ext cx="1616712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redundant rows for accuracy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467199" y="4841584"/>
            <a:ext cx="1625595" cy="499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Handle Missing Values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467199" y="5412334"/>
            <a:ext cx="1625595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Impute or remove gaps consistently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48379" y="1692469"/>
            <a:ext cx="1616712" cy="499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Standardize Columns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048379" y="2263219"/>
            <a:ext cx="1616712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 names and formats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47325" y="4841584"/>
            <a:ext cx="1616713" cy="499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Convert Data Types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647325" y="5412334"/>
            <a:ext cx="1616713" cy="369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correct types for analysis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61475" y="5971778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step ensures the dataset is accurate, consistent, and optimized for Power BI's in-memory analytics engine.</a:t>
            </a:r>
            <a:endParaRPr lang="en-US" sz="1250" dirty="0"/>
          </a:p>
        </p:txBody>
      </p:sp>
      <p:sp>
        <p:nvSpPr>
          <p:cNvPr id="14" name="Rectangle 13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443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KPIs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0653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Metrics That Drive Decisions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0338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₹1.2M+</a:t>
            </a:r>
            <a:endParaRPr lang="en-US" sz="4900" dirty="0"/>
          </a:p>
        </p:txBody>
      </p:sp>
      <p:sp>
        <p:nvSpPr>
          <p:cNvPr id="5" name="Text 3"/>
          <p:cNvSpPr/>
          <p:nvPr/>
        </p:nvSpPr>
        <p:spPr>
          <a:xfrm>
            <a:off x="661475" y="28938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Booking Value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302496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scale across all rides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63135" y="20338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10K+</a:t>
            </a:r>
            <a:endParaRPr lang="en-US" sz="4900" dirty="0"/>
          </a:p>
        </p:txBody>
      </p:sp>
      <p:sp>
        <p:nvSpPr>
          <p:cNvPr id="8" name="Text 6"/>
          <p:cNvSpPr/>
          <p:nvPr/>
        </p:nvSpPr>
        <p:spPr>
          <a:xfrm>
            <a:off x="4363135" y="28938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Total Rides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4363135" y="3302496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of bookings analyzed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64794" y="203388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75%</a:t>
            </a:r>
            <a:endParaRPr lang="en-US" sz="4900" dirty="0"/>
          </a:p>
        </p:txBody>
      </p:sp>
      <p:sp>
        <p:nvSpPr>
          <p:cNvPr id="11" name="Text 9"/>
          <p:cNvSpPr/>
          <p:nvPr/>
        </p:nvSpPr>
        <p:spPr>
          <a:xfrm>
            <a:off x="8064794" y="2893814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Successful Rides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8064794" y="3302496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Completion rate indicator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512255" y="407739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25%</a:t>
            </a:r>
            <a:endParaRPr lang="en-US" sz="4900" dirty="0"/>
          </a:p>
        </p:txBody>
      </p:sp>
      <p:sp>
        <p:nvSpPr>
          <p:cNvPr id="14" name="Text 12"/>
          <p:cNvSpPr/>
          <p:nvPr/>
        </p:nvSpPr>
        <p:spPr>
          <a:xfrm>
            <a:off x="2512255" y="493732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Incomplete Rides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2512255" y="534600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Cancellations and no-shows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3915" y="4077395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4.2★</a:t>
            </a:r>
            <a:endParaRPr lang="en-US" sz="4900" dirty="0"/>
          </a:p>
        </p:txBody>
      </p:sp>
      <p:sp>
        <p:nvSpPr>
          <p:cNvPr id="17" name="Text 15"/>
          <p:cNvSpPr/>
          <p:nvPr/>
        </p:nvSpPr>
        <p:spPr>
          <a:xfrm>
            <a:off x="6213915" y="493732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Customer Ratings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213915" y="534600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satisfaction score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1475" y="586105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KPIs give executives an at-a-glance view of revenue health, operational efficiency, and service quality.</a:t>
            </a:r>
            <a:endParaRPr lang="en-US" sz="1450" dirty="0"/>
          </a:p>
        </p:txBody>
      </p:sp>
      <p:sp>
        <p:nvSpPr>
          <p:cNvPr id="20" name="Rectangle 19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2755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Dashboard Visualizations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17984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Interactive Charts &amp; Slicers</a:t>
            </a:r>
            <a:endParaRPr lang="en-US" sz="3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72556"/>
            <a:ext cx="1473163" cy="9104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819227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Booking Status Column Chart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523184"/>
            <a:ext cx="25399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completed, cancelled, and incomplete rides over time.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645" y="2672556"/>
            <a:ext cx="1473163" cy="91043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37645" y="3819227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Payment Method Pie Chart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437645" y="452318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Breaks down transactions by UPI, cash, card, and wallet.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915" y="2672556"/>
            <a:ext cx="1473163" cy="91043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3915" y="3819227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Vehicle Type Donut Chart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6213915" y="452318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demand share across Prime Sedan, Prime Plus, Mini, and Auto.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0184" y="2672556"/>
            <a:ext cx="1473163" cy="91043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90184" y="3819227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Pickup &amp; Drop Location Analysis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990184" y="4523184"/>
            <a:ext cx="254003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Identifies high-traffic zones and underserved areas in Bengaluru.</a:t>
            </a:r>
            <a:endParaRPr lang="en-US" sz="1450" dirty="0"/>
          </a:p>
        </p:txBody>
      </p:sp>
      <p:sp>
        <p:nvSpPr>
          <p:cNvPr id="16" name="Rectangle 15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868"/>
            <a:ext cx="10868745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Key Business Insights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61475" y="762992"/>
            <a:ext cx="10868745" cy="347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the Data Reveals</a:t>
            </a:r>
            <a:endParaRPr lang="en-US" sz="2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1282998"/>
            <a:ext cx="278302" cy="2783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643261"/>
            <a:ext cx="36274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High Completion Rate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1882775"/>
            <a:ext cx="36274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majority of rides are successfully completed, reflecting strong operational reliability.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61475" y="2296914"/>
            <a:ext cx="278302" cy="2783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657177"/>
            <a:ext cx="36274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Digital Payments Dominate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1475" y="2896691"/>
            <a:ext cx="36274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UPI and wallet transactions account for most bookings, signaling a shift away from cash.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61475" y="3310830"/>
            <a:ext cx="278302" cy="2783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671094"/>
            <a:ext cx="36274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Premium Vehicle Demand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61475" y="3910608"/>
            <a:ext cx="36274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 Sedan and Prime Plus consistently show the highest booking volume.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61475" y="4324747"/>
            <a:ext cx="278302" cy="2783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685010"/>
            <a:ext cx="36274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Location Hotspots</a:t>
            </a:r>
            <a:endParaRPr lang="en-US" sz="1050" dirty="0"/>
          </a:p>
        </p:txBody>
      </p:sp>
      <p:sp>
        <p:nvSpPr>
          <p:cNvPr id="15" name="Text 9"/>
          <p:cNvSpPr/>
          <p:nvPr/>
        </p:nvSpPr>
        <p:spPr>
          <a:xfrm>
            <a:off x="661475" y="4924524"/>
            <a:ext cx="36274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Certain pickup and drop zones generate significantly more bookings than others.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1475" y="5338663"/>
            <a:ext cx="278302" cy="2783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698927"/>
            <a:ext cx="3627446" cy="17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Strong Satisfaction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661475" y="5938441"/>
            <a:ext cx="3627446" cy="282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customer ratings indicate overall positive service experience.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86590" y="2468662"/>
            <a:ext cx="4530116" cy="2567087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373"/>
            <a:ext cx="10868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Business Recommendations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661475" y="98702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Strategic Actions for Growth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32097" y="1804095"/>
            <a:ext cx="5474059" cy="4415532"/>
          </a:xfrm>
          <a:prstGeom prst="roundRect">
            <a:avLst>
              <a:gd name="adj" fmla="val 610"/>
            </a:avLst>
          </a:prstGeom>
          <a:solidFill>
            <a:srgbClr val="1E1E1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11579" y="1995984"/>
            <a:ext cx="2472271" cy="24909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1061" y="2175470"/>
            <a:ext cx="21133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Optimize Low-Performing Zones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91061" y="2907010"/>
            <a:ext cx="2113307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underserved pickup and drop locations with driver incentives and localized promotions.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354403" y="1995984"/>
            <a:ext cx="2472271" cy="2490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33885" y="2175470"/>
            <a:ext cx="2113307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Reduce Incomplete Rides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3533885" y="2907010"/>
            <a:ext cx="2113307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cancellation patterns and implement driver accountability and ETA accuracy measures.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11579" y="4657527"/>
            <a:ext cx="5115095" cy="13702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1061" y="4837013"/>
            <a:ext cx="475613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Expand Premium Supply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91061" y="5288062"/>
            <a:ext cx="475613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availability of Prime Sedan and Prime Plus during peak demand windows.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321267" y="1995984"/>
            <a:ext cx="2522375" cy="24909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0749" y="2175470"/>
            <a:ext cx="2163411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Enhance Customer Experience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6500749" y="2907010"/>
            <a:ext cx="2163411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rating feedback to identify service gaps and reward high-performing drivers.</a:t>
            </a:r>
            <a:endParaRPr lang="en-US" sz="14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9014195" y="1995984"/>
            <a:ext cx="2522375" cy="249098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93677" y="2175470"/>
            <a:ext cx="2163411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Promote Digital Payments</a:t>
            </a:r>
            <a:endParaRPr lang="en-US" sz="1750" dirty="0"/>
          </a:p>
        </p:txBody>
      </p:sp>
      <p:sp>
        <p:nvSpPr>
          <p:cNvPr id="19" name="Text 12"/>
          <p:cNvSpPr/>
          <p:nvPr/>
        </p:nvSpPr>
        <p:spPr>
          <a:xfrm>
            <a:off x="9193677" y="2907010"/>
            <a:ext cx="2163411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cashback incentives for UPI and wallet transactions to further reduce cash dependency.</a:t>
            </a:r>
            <a:endParaRPr 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321267" y="4657527"/>
            <a:ext cx="5215303" cy="137021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00749" y="4837013"/>
            <a:ext cx="48563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Monitor KPIs Continuously</a:t>
            </a:r>
            <a:endParaRPr lang="en-US" sz="1750" dirty="0"/>
          </a:p>
        </p:txBody>
      </p:sp>
      <p:sp>
        <p:nvSpPr>
          <p:cNvPr id="22" name="Text 14"/>
          <p:cNvSpPr/>
          <p:nvPr/>
        </p:nvSpPr>
        <p:spPr>
          <a:xfrm>
            <a:off x="6500749" y="5288062"/>
            <a:ext cx="48563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dashboard for weekly performance reviews and agile decision-making.</a:t>
            </a:r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Tools &amp; Skills Used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61475" y="677962"/>
            <a:ext cx="10868745" cy="281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The Technical Toolkit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2810301" y="1610816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95%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562" y="1046956"/>
            <a:ext cx="1353310" cy="13533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465884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BI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61475" y="2632670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development &amp; visualization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271561" y="1610816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23" y="1046956"/>
            <a:ext cx="1353310" cy="13533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2735" y="2465884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Power Query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122735" y="2632670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extraction and transformation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810301" y="3411736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85%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562" y="2847876"/>
            <a:ext cx="1353310" cy="13533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1475" y="4266803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DAX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61475" y="4433590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Calculated measures and KPIs</a:t>
            </a:r>
            <a:endParaRPr lang="en-US" sz="700" dirty="0"/>
          </a:p>
        </p:txBody>
      </p:sp>
      <p:sp>
        <p:nvSpPr>
          <p:cNvPr id="16" name="Text 11"/>
          <p:cNvSpPr/>
          <p:nvPr/>
        </p:nvSpPr>
        <p:spPr>
          <a:xfrm>
            <a:off x="8271561" y="3411736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90%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823" y="2847876"/>
            <a:ext cx="1353310" cy="13533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22735" y="4266803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Excel</a:t>
            </a:r>
            <a:endParaRPr lang="en-US" sz="850" dirty="0"/>
          </a:p>
        </p:txBody>
      </p:sp>
      <p:sp>
        <p:nvSpPr>
          <p:cNvPr id="19" name="Text 13"/>
          <p:cNvSpPr/>
          <p:nvPr/>
        </p:nvSpPr>
        <p:spPr>
          <a:xfrm>
            <a:off x="6122735" y="4433590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and preliminary analysis</a:t>
            </a:r>
            <a:endParaRPr lang="en-US" sz="700" dirty="0"/>
          </a:p>
        </p:txBody>
      </p:sp>
      <p:sp>
        <p:nvSpPr>
          <p:cNvPr id="20" name="Text 14"/>
          <p:cNvSpPr/>
          <p:nvPr/>
        </p:nvSpPr>
        <p:spPr>
          <a:xfrm>
            <a:off x="2810301" y="5212655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88%</a:t>
            </a:r>
            <a:endParaRPr lang="en-US" sz="1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8562" y="4648795"/>
            <a:ext cx="1353310" cy="13533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61475" y="6067723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 Modeling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61475" y="6234509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schema and relationship design</a:t>
            </a:r>
            <a:endParaRPr lang="en-US" sz="700" dirty="0"/>
          </a:p>
        </p:txBody>
      </p:sp>
      <p:sp>
        <p:nvSpPr>
          <p:cNvPr id="24" name="Text 17"/>
          <p:cNvSpPr/>
          <p:nvPr/>
        </p:nvSpPr>
        <p:spPr>
          <a:xfrm>
            <a:off x="8271561" y="5212655"/>
            <a:ext cx="1109635" cy="22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7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92%</a:t>
            </a:r>
            <a:endParaRPr lang="en-US" sz="17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9823" y="4648795"/>
            <a:ext cx="1353310" cy="13533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22735" y="6067723"/>
            <a:ext cx="5407485" cy="14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BI &amp; Analytics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>
            <a:off x="6122735" y="6234509"/>
            <a:ext cx="540748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70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 generation and storytelling</a:t>
            </a:r>
            <a:endParaRPr lang="en-US" sz="700" dirty="0"/>
          </a:p>
        </p:txBody>
      </p:sp>
      <p:sp>
        <p:nvSpPr>
          <p:cNvPr id="28" name="Rectangle 27"/>
          <p:cNvSpPr/>
          <p:nvPr/>
        </p:nvSpPr>
        <p:spPr>
          <a:xfrm>
            <a:off x="11012557" y="6453809"/>
            <a:ext cx="1127247" cy="404191"/>
          </a:xfrm>
          <a:prstGeom prst="rect">
            <a:avLst/>
          </a:prstGeom>
          <a:solidFill>
            <a:srgbClr val="F9F8F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8019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53213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Questions?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094409"/>
            <a:ext cx="6296860" cy="25400"/>
          </a:xfrm>
          <a:prstGeom prst="roundRect">
            <a:avLst>
              <a:gd name="adj" fmla="val 59999"/>
            </a:avLst>
          </a:prstGeom>
          <a:solidFill>
            <a:srgbClr val="161613">
              <a:alpha val="50000"/>
            </a:srgbClr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36075" y="2354262"/>
            <a:ext cx="3055663" cy="19644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1281" y="2379663"/>
            <a:ext cx="27904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Executive Insights Delivered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901281" y="3083620"/>
            <a:ext cx="279045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successfully transforms raw Ola booking data into a clear, interactive executive dashboard.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902573" y="2354262"/>
            <a:ext cx="3055762" cy="19644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7778" y="2379663"/>
            <a:ext cx="279055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4167778" y="2788345"/>
            <a:ext cx="27905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can now monitor KPIs, identify trends, and act on insights in real time.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36075" y="4645918"/>
            <a:ext cx="6322259" cy="106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01281" y="4671318"/>
            <a:ext cx="605705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Skills Showcased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01281" y="5080000"/>
            <a:ext cx="605705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BI, DAX, data modeling, and business intelligence — interview-ready and portfolio-quality.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89746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6161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r>
              <a:rPr lang="en-US" sz="1450" b="1" dirty="0">
                <a:solidFill>
                  <a:srgbClr val="16161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Shahabaz Khan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730</Words>
  <Application>Microsoft Office PowerPoint</Application>
  <PresentationFormat>Widescreen</PresentationFormat>
  <Paragraphs>145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Inter</vt:lpstr>
      <vt:lpstr>Calibri</vt:lpstr>
      <vt:lpstr>DM Sans Medium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*</cp:lastModifiedBy>
  <cp:revision>2</cp:revision>
  <dcterms:created xsi:type="dcterms:W3CDTF">2026-07-09T13:29:10Z</dcterms:created>
  <dcterms:modified xsi:type="dcterms:W3CDTF">2026-07-09T13:33:02Z</dcterms:modified>
</cp:coreProperties>
</file>